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8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85" r:id="rId16"/>
    <p:sldId id="268" r:id="rId17"/>
    <p:sldId id="270" r:id="rId18"/>
    <p:sldId id="271" r:id="rId19"/>
    <p:sldId id="273" r:id="rId20"/>
    <p:sldId id="272" r:id="rId21"/>
    <p:sldId id="274" r:id="rId22"/>
    <p:sldId id="275" r:id="rId23"/>
    <p:sldId id="276" r:id="rId24"/>
    <p:sldId id="277" r:id="rId25"/>
    <p:sldId id="279" r:id="rId26"/>
    <p:sldId id="286" r:id="rId27"/>
    <p:sldId id="287" r:id="rId28"/>
    <p:sldId id="280" r:id="rId29"/>
    <p:sldId id="278" r:id="rId30"/>
    <p:sldId id="281" r:id="rId31"/>
    <p:sldId id="282" r:id="rId32"/>
    <p:sldId id="283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-1576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printerSettings" Target="printerSettings/printerSettings1.bin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C2B4-666F-034C-B89B-8C2CE7865976}" type="datetimeFigureOut">
              <a:rPr lang="en-US" smtClean="0"/>
              <a:t>07/02/17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7367-2466-C741-A6CA-75CD96750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9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C2B4-666F-034C-B89B-8C2CE7865976}" type="datetimeFigureOut">
              <a:rPr lang="en-US" smtClean="0"/>
              <a:t>07/02/17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7367-2466-C741-A6CA-75CD96750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84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C2B4-666F-034C-B89B-8C2CE7865976}" type="datetimeFigureOut">
              <a:rPr lang="en-US" smtClean="0"/>
              <a:t>07/02/17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7367-2466-C741-A6CA-75CD96750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32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C2B4-666F-034C-B89B-8C2CE7865976}" type="datetimeFigureOut">
              <a:rPr lang="en-US" smtClean="0"/>
              <a:t>07/02/17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7367-2466-C741-A6CA-75CD96750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055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C2B4-666F-034C-B89B-8C2CE7865976}" type="datetimeFigureOut">
              <a:rPr lang="en-US" smtClean="0"/>
              <a:t>07/02/17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7367-2466-C741-A6CA-75CD96750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49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C2B4-666F-034C-B89B-8C2CE7865976}" type="datetimeFigureOut">
              <a:rPr lang="en-US" smtClean="0"/>
              <a:t>07/02/17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7367-2466-C741-A6CA-75CD96750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C2B4-666F-034C-B89B-8C2CE7865976}" type="datetimeFigureOut">
              <a:rPr lang="en-US" smtClean="0"/>
              <a:t>07/02/17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7367-2466-C741-A6CA-75CD96750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4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C2B4-666F-034C-B89B-8C2CE7865976}" type="datetimeFigureOut">
              <a:rPr lang="en-US" smtClean="0"/>
              <a:t>07/02/17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7367-2466-C741-A6CA-75CD96750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56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C2B4-666F-034C-B89B-8C2CE7865976}" type="datetimeFigureOut">
              <a:rPr lang="en-US" smtClean="0"/>
              <a:t>07/02/17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7367-2466-C741-A6CA-75CD96750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09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C2B4-666F-034C-B89B-8C2CE7865976}" type="datetimeFigureOut">
              <a:rPr lang="en-US" smtClean="0"/>
              <a:t>07/02/17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7367-2466-C741-A6CA-75CD96750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6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C2B4-666F-034C-B89B-8C2CE7865976}" type="datetimeFigureOut">
              <a:rPr lang="en-US" smtClean="0"/>
              <a:t>07/02/17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7367-2466-C741-A6CA-75CD96750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61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FC2B4-666F-034C-B89B-8C2CE7865976}" type="datetimeFigureOut">
              <a:rPr lang="en-US" smtClean="0"/>
              <a:t>07/02/17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17367-2466-C741-A6CA-75CD96750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last.ncbi.nlm.nih.gov/Blast.cgi?PAGE_TYPE=BlastSearch&amp;PROG_DEF=blastn&amp;BLAST_PROG_DEF=blastn&amp;BLAST_SPEC=GlobalAln&amp;LINK_LOC=BlastHomeLink" TargetMode="External"/><Relationship Id="rId4" Type="http://schemas.openxmlformats.org/officeDocument/2006/relationships/hyperlink" Target="http://www.ebi.ac.uk/Tools/services/web_clustalo/toolform.ebi" TargetMode="External"/><Relationship Id="rId5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last.ncbi.nlm.nih.gov/Blast.cgi?PROGRAM=blastn&amp;PAGE_TYPE=BlastSearch&amp;LINK_LOC=blasthome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Sequence Alignment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MODULE 2, CS010 804L3 Bioinformatics</a:t>
            </a:r>
          </a:p>
          <a:p>
            <a:r>
              <a:rPr lang="en-US" dirty="0" err="1" smtClean="0"/>
              <a:t>Girish</a:t>
            </a:r>
            <a:r>
              <a:rPr lang="en-US" dirty="0" smtClean="0"/>
              <a:t> </a:t>
            </a:r>
            <a:r>
              <a:rPr lang="en-US" dirty="0" err="1" smtClean="0"/>
              <a:t>Balakrishnan</a:t>
            </a:r>
            <a:endParaRPr lang="en-US" dirty="0" smtClean="0"/>
          </a:p>
          <a:p>
            <a:r>
              <a:rPr lang="en-US" dirty="0" smtClean="0"/>
              <a:t>Assistant Professor, CSE, MITS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4569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59304"/>
            <a:ext cx="8229600" cy="1143000"/>
          </a:xfrm>
        </p:spPr>
        <p:txBody>
          <a:bodyPr/>
          <a:lstStyle/>
          <a:p>
            <a:r>
              <a:rPr lang="en-US" dirty="0" smtClean="0"/>
              <a:t>Part 1 - MOTIVATION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504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Homology</a:t>
            </a:r>
            <a:endParaRPr lang="en-US" dirty="0"/>
          </a:p>
        </p:txBody>
      </p:sp>
      <p:pic>
        <p:nvPicPr>
          <p:cNvPr id="4" name="Picture 3" descr="ortholog and paralog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32" y="1404090"/>
            <a:ext cx="3977748" cy="508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045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Phylogenetic Tree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22" y="1417638"/>
            <a:ext cx="4035756" cy="34648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260" y="1417638"/>
            <a:ext cx="4609518" cy="244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173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63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791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insulin like molecules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0" y="1542829"/>
            <a:ext cx="61976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4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Origins of insulin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0" y="2057400"/>
            <a:ext cx="61849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9406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Phylogeny of insulin superfamily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7300"/>
            <a:ext cx="9144000" cy="432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093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Structures of insulin superfamily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1176108"/>
            <a:ext cx="67183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Common ancestor – Insulin and IGF-I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417638"/>
            <a:ext cx="62484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288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Insulin – A Conserved Protein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874" y="910703"/>
            <a:ext cx="3801365" cy="36210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316" y="4405713"/>
            <a:ext cx="7413215" cy="232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3889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94758"/>
            <a:ext cx="8229600" cy="917869"/>
          </a:xfrm>
        </p:spPr>
        <p:txBody>
          <a:bodyPr/>
          <a:lstStyle/>
          <a:p>
            <a:r>
              <a:rPr lang="en-US" dirty="0" smtClean="0"/>
              <a:t>IGF-I and IGF-II Gene Duplication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632" y="557442"/>
            <a:ext cx="4671072" cy="1030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632" y="1704587"/>
            <a:ext cx="4826997" cy="515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572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67146"/>
            <a:ext cx="8229600" cy="1143000"/>
          </a:xfrm>
        </p:spPr>
        <p:txBody>
          <a:bodyPr/>
          <a:lstStyle/>
          <a:p>
            <a:r>
              <a:rPr lang="en-US" dirty="0" smtClean="0"/>
              <a:t>Finding insulin in invertebrates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43" y="975854"/>
            <a:ext cx="4283185" cy="41251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728" y="4818202"/>
            <a:ext cx="4283185" cy="169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209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80952"/>
            <a:ext cx="8229600" cy="1143000"/>
          </a:xfrm>
        </p:spPr>
        <p:txBody>
          <a:bodyPr/>
          <a:lstStyle/>
          <a:p>
            <a:r>
              <a:rPr lang="en-US" dirty="0" smtClean="0"/>
              <a:t>Amphioxus ILP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40" y="962048"/>
            <a:ext cx="4118031" cy="29606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40" y="4483260"/>
            <a:ext cx="4017860" cy="6973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681" y="962048"/>
            <a:ext cx="4555426" cy="1999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1681" y="3115406"/>
            <a:ext cx="4434900" cy="125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487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9144000" cy="531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137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Phylogeny of Vertebrate Insulin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4838"/>
            <a:ext cx="9144000" cy="55431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7073" y="355149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Amphioxus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123312" y="1417638"/>
            <a:ext cx="1127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silkworms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374437" y="2714539"/>
            <a:ext cx="85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hagfish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208779" y="1417638"/>
            <a:ext cx="1524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gnathostomes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123312" y="4473059"/>
            <a:ext cx="1689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 </a:t>
            </a:r>
            <a:r>
              <a:rPr lang="en-US" dirty="0" err="1" smtClean="0"/>
              <a:t>Paralogous</a:t>
            </a:r>
            <a:r>
              <a:rPr lang="en-US" dirty="0" smtClean="0"/>
              <a:t>?</a:t>
            </a:r>
          </a:p>
          <a:p>
            <a:r>
              <a:rPr lang="en-US" dirty="0" smtClean="0"/>
              <a:t>2. Orthologous?</a:t>
            </a:r>
          </a:p>
        </p:txBody>
      </p:sp>
    </p:spTree>
    <p:extLst>
      <p:ext uri="{BB962C8B-B14F-4D97-AF65-F5344CB8AC3E}">
        <p14:creationId xmlns:p14="http://schemas.microsoft.com/office/powerpoint/2010/main" val="5039937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6975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Part 2 – BLAST</a:t>
            </a:r>
            <a:br>
              <a:rPr lang="en-US" dirty="0" smtClean="0"/>
            </a:br>
            <a:r>
              <a:rPr lang="en-US" dirty="0" smtClean="0"/>
              <a:t>Basic Local Alignment Search 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057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BLAST @ NCBI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4013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4486" y="5639585"/>
            <a:ext cx="776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There are several BLAST programs like </a:t>
            </a:r>
            <a:r>
              <a:rPr lang="en-US" dirty="0" err="1" smtClean="0"/>
              <a:t>BlastN</a:t>
            </a:r>
            <a:r>
              <a:rPr lang="en-US" dirty="0" smtClean="0"/>
              <a:t>, </a:t>
            </a:r>
            <a:r>
              <a:rPr lang="en-US" dirty="0" err="1" smtClean="0"/>
              <a:t>BlastP</a:t>
            </a:r>
            <a:r>
              <a:rPr lang="en-US" dirty="0" smtClean="0"/>
              <a:t>, </a:t>
            </a:r>
            <a:r>
              <a:rPr lang="en-US" dirty="0" err="1" smtClean="0"/>
              <a:t>BlastX</a:t>
            </a:r>
            <a:r>
              <a:rPr lang="en-US" dirty="0" smtClean="0"/>
              <a:t>, </a:t>
            </a:r>
            <a:r>
              <a:rPr lang="en-US" dirty="0" err="1" smtClean="0"/>
              <a:t>TBlastN</a:t>
            </a:r>
            <a:r>
              <a:rPr lang="en-US" dirty="0" smtClean="0"/>
              <a:t> and </a:t>
            </a:r>
            <a:r>
              <a:rPr lang="en-US" dirty="0" err="1" smtClean="0"/>
              <a:t>TBlastX</a:t>
            </a:r>
            <a:r>
              <a:rPr 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37265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739"/>
            <a:ext cx="8229600" cy="1143000"/>
          </a:xfrm>
        </p:spPr>
        <p:txBody>
          <a:bodyPr/>
          <a:lstStyle/>
          <a:p>
            <a:r>
              <a:rPr lang="en-US" dirty="0" smtClean="0"/>
              <a:t>NCBI BLASTN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93" y="843126"/>
            <a:ext cx="8424507" cy="589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672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336"/>
            <a:ext cx="9144000" cy="15678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825511"/>
            <a:ext cx="4098542" cy="30324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0073"/>
            <a:ext cx="6670163" cy="18054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8543" y="2532420"/>
            <a:ext cx="4823076" cy="43912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94758"/>
            <a:ext cx="8229600" cy="1143000"/>
          </a:xfrm>
        </p:spPr>
        <p:txBody>
          <a:bodyPr/>
          <a:lstStyle/>
          <a:p>
            <a:r>
              <a:rPr lang="en-US" dirty="0" smtClean="0"/>
              <a:t>BLAST 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1266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Aim of BLAST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Alignments should make “biological sense”</a:t>
            </a:r>
          </a:p>
          <a:p>
            <a:r>
              <a:rPr lang="en-US" dirty="0" smtClean="0"/>
              <a:t>Check if sequences are evolutionary products</a:t>
            </a:r>
          </a:p>
          <a:p>
            <a:r>
              <a:rPr lang="en-US" dirty="0" smtClean="0"/>
              <a:t>Evolutionary products differ from products of chance</a:t>
            </a:r>
          </a:p>
          <a:p>
            <a:r>
              <a:rPr lang="en-US" dirty="0" smtClean="0"/>
              <a:t>What are products of chance</a:t>
            </a:r>
          </a:p>
          <a:p>
            <a:pPr lvl="1"/>
            <a:r>
              <a:rPr lang="en-US" dirty="0" smtClean="0"/>
              <a:t>Real but non-homologous sequences</a:t>
            </a:r>
          </a:p>
          <a:p>
            <a:pPr lvl="1"/>
            <a:r>
              <a:rPr lang="en-US" dirty="0" smtClean="0"/>
              <a:t>Real sequences that are shuffled to preserve compositional properties </a:t>
            </a:r>
          </a:p>
          <a:p>
            <a:pPr lvl="1"/>
            <a:r>
              <a:rPr lang="en-US" dirty="0" smtClean="0"/>
              <a:t>Sequences that are generated randomly based on DNA or protein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0587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Null Hypothesis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First step to statistical tests – Identify Null Hypothesis</a:t>
            </a:r>
          </a:p>
          <a:p>
            <a:r>
              <a:rPr lang="en-US" b="1" dirty="0" smtClean="0"/>
              <a:t>Null Hypothesis</a:t>
            </a:r>
            <a:r>
              <a:rPr lang="en-US" dirty="0" smtClean="0"/>
              <a:t> – Assume there is no pattern (here homological) and what you have got is purely random (by chance!)</a:t>
            </a:r>
          </a:p>
          <a:p>
            <a:r>
              <a:rPr lang="en-US" dirty="0" smtClean="0"/>
              <a:t>Z-scores: Measures standard deviation</a:t>
            </a:r>
          </a:p>
          <a:p>
            <a:r>
              <a:rPr lang="en-US" dirty="0" smtClean="0"/>
              <a:t>P-scores: Probability that you have falsely rejected null hypothesis</a:t>
            </a:r>
          </a:p>
          <a:p>
            <a:r>
              <a:rPr lang="en-US" i="1" dirty="0" smtClean="0">
                <a:solidFill>
                  <a:schemeClr val="accent6">
                    <a:lumMod val="75000"/>
                  </a:schemeClr>
                </a:solidFill>
              </a:rPr>
              <a:t>What do think of a pattern that is associated with very high or very low Z-score and very small P-value?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2117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552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First what is sequence alignment?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Local alignment</a:t>
            </a:r>
          </a:p>
          <a:p>
            <a:pPr lvl="1"/>
            <a:r>
              <a:rPr lang="en-US" dirty="0" smtClean="0">
                <a:hlinkClick r:id="rId2"/>
              </a:rPr>
              <a:t>BLAST</a:t>
            </a:r>
            <a:endParaRPr lang="en-US" dirty="0" smtClean="0"/>
          </a:p>
          <a:p>
            <a:pPr lvl="1"/>
            <a:r>
              <a:rPr lang="en-US" dirty="0" smtClean="0"/>
              <a:t>Better for detecting conserved regions in sequences</a:t>
            </a:r>
          </a:p>
          <a:p>
            <a:r>
              <a:rPr lang="en-US" dirty="0" smtClean="0"/>
              <a:t>Global alignment</a:t>
            </a:r>
          </a:p>
          <a:p>
            <a:pPr lvl="1"/>
            <a:r>
              <a:rPr lang="en-US" dirty="0" smtClean="0">
                <a:hlinkClick r:id="rId3"/>
              </a:rPr>
              <a:t>Global Alignment tool from NCBI</a:t>
            </a:r>
            <a:endParaRPr lang="en-US" dirty="0" smtClean="0"/>
          </a:p>
          <a:p>
            <a:pPr lvl="1"/>
            <a:r>
              <a:rPr lang="en-US" dirty="0" smtClean="0"/>
              <a:t>Better for structural comparison of two sequences</a:t>
            </a:r>
          </a:p>
          <a:p>
            <a:r>
              <a:rPr lang="en-US" dirty="0" smtClean="0"/>
              <a:t>Pairwise alignment</a:t>
            </a:r>
          </a:p>
          <a:p>
            <a:r>
              <a:rPr lang="en-US" dirty="0" smtClean="0"/>
              <a:t>Multiple alignment</a:t>
            </a:r>
          </a:p>
          <a:p>
            <a:pPr lvl="1"/>
            <a:r>
              <a:rPr lang="en-US" dirty="0" smtClean="0">
                <a:hlinkClick r:id="rId4"/>
              </a:rPr>
              <a:t>Clustal Omega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0" y="1279581"/>
            <a:ext cx="30861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3166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1730"/>
            <a:ext cx="8229600" cy="1143000"/>
          </a:xfrm>
        </p:spPr>
        <p:txBody>
          <a:bodyPr/>
          <a:lstStyle/>
          <a:p>
            <a:r>
              <a:rPr lang="en-US" dirty="0" smtClean="0"/>
              <a:t>How to score alignment?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2747"/>
            <a:ext cx="8229600" cy="4525963"/>
          </a:xfrm>
        </p:spPr>
        <p:txBody>
          <a:bodyPr/>
          <a:lstStyle/>
          <a:p>
            <a:r>
              <a:rPr lang="en-US" dirty="0" smtClean="0"/>
              <a:t>Score to find a better alignment?</a:t>
            </a:r>
          </a:p>
          <a:p>
            <a:r>
              <a:rPr lang="en-US" dirty="0" smtClean="0"/>
              <a:t>Match gets + score</a:t>
            </a:r>
          </a:p>
          <a:p>
            <a:r>
              <a:rPr lang="en-US" dirty="0" smtClean="0"/>
              <a:t>Mismatch –</a:t>
            </a:r>
            <a:r>
              <a:rPr lang="en-US" dirty="0" err="1" smtClean="0"/>
              <a:t>ve</a:t>
            </a:r>
            <a:endParaRPr lang="en-US" dirty="0" smtClean="0"/>
          </a:p>
          <a:p>
            <a:r>
              <a:rPr lang="en-US" dirty="0" smtClean="0"/>
              <a:t>Gaps also get penalty</a:t>
            </a:r>
          </a:p>
          <a:p>
            <a:pPr lvl="1"/>
            <a:r>
              <a:rPr lang="en-US" dirty="0" smtClean="0"/>
              <a:t>Opening gap penalty</a:t>
            </a:r>
          </a:p>
          <a:p>
            <a:pPr lvl="1"/>
            <a:r>
              <a:rPr lang="en-US" dirty="0" smtClean="0"/>
              <a:t>Extending gap penalty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142" y="1473861"/>
            <a:ext cx="4201857" cy="18808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399" y="4597400"/>
            <a:ext cx="70866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980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BLASTN and BLASTP Scoring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BLASTN</a:t>
            </a:r>
          </a:p>
          <a:p>
            <a:pPr lvl="1"/>
            <a:r>
              <a:rPr lang="en-US" dirty="0" smtClean="0"/>
              <a:t>Simple scoring rules like</a:t>
            </a:r>
          </a:p>
          <a:p>
            <a:pPr lvl="1"/>
            <a:endParaRPr lang="en-US" dirty="0"/>
          </a:p>
          <a:p>
            <a:r>
              <a:rPr lang="en-US" dirty="0" smtClean="0"/>
              <a:t>BLASTP</a:t>
            </a:r>
          </a:p>
          <a:p>
            <a:pPr lvl="1"/>
            <a:r>
              <a:rPr lang="en-US" dirty="0" smtClean="0"/>
              <a:t>More complex matrices</a:t>
            </a:r>
          </a:p>
          <a:p>
            <a:pPr lvl="2"/>
            <a:r>
              <a:rPr lang="en-US" dirty="0" smtClean="0"/>
              <a:t>PAM (Per Cent Accepted Mutation Matrix)</a:t>
            </a:r>
          </a:p>
          <a:p>
            <a:pPr lvl="2"/>
            <a:r>
              <a:rPr lang="en-US" dirty="0" smtClean="0"/>
              <a:t>BLOSUM (Blocks Substitution Matrix) </a:t>
            </a:r>
            <a:r>
              <a:rPr lang="en-US" dirty="0" smtClean="0">
                <a:solidFill>
                  <a:srgbClr val="E46C0A"/>
                </a:solidFill>
              </a:rPr>
              <a:t>(DEFAULT)</a:t>
            </a:r>
            <a:endParaRPr lang="en-US" dirty="0">
              <a:solidFill>
                <a:srgbClr val="E46C0A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706556"/>
            <a:ext cx="3810000" cy="1206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300" y="5130800"/>
            <a:ext cx="54737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3882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80" y="-380391"/>
            <a:ext cx="8229600" cy="1143000"/>
          </a:xfrm>
        </p:spPr>
        <p:txBody>
          <a:bodyPr/>
          <a:lstStyle/>
          <a:p>
            <a:r>
              <a:rPr lang="en-US" dirty="0" smtClean="0"/>
              <a:t>PAM - History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186" y="762609"/>
            <a:ext cx="4646814" cy="55499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59747"/>
            <a:ext cx="4557129" cy="135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976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00" y="-296862"/>
            <a:ext cx="8229600" cy="1143000"/>
          </a:xfrm>
        </p:spPr>
        <p:txBody>
          <a:bodyPr/>
          <a:lstStyle/>
          <a:p>
            <a:r>
              <a:rPr lang="en-US" dirty="0" smtClean="0"/>
              <a:t>BLOSUM - History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509" y="1539025"/>
            <a:ext cx="6045998" cy="2639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4178300"/>
            <a:ext cx="8216900" cy="2679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135" y="596940"/>
            <a:ext cx="4950934" cy="105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8729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The score is sum of the logarithm of the ratio of likelihoods of two hypothesis for each aligned residue</a:t>
            </a:r>
          </a:p>
          <a:p>
            <a:r>
              <a:rPr lang="en-US" dirty="0" smtClean="0"/>
              <a:t>The equation for calculating score for each pair of residues is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Hypothesis 1:</a:t>
            </a:r>
            <a:r>
              <a:rPr lang="en-US" dirty="0" smtClean="0"/>
              <a:t> </a:t>
            </a:r>
            <a:r>
              <a:rPr lang="en-US" dirty="0" err="1" smtClean="0"/>
              <a:t>p</a:t>
            </a:r>
            <a:r>
              <a:rPr lang="en-US" baseline="-25000" dirty="0" err="1" smtClean="0"/>
              <a:t>ab</a:t>
            </a:r>
            <a:r>
              <a:rPr lang="en-US" dirty="0" smtClean="0"/>
              <a:t> the two residues are correlated because they are homologous (target frequencies)</a:t>
            </a:r>
          </a:p>
          <a:p>
            <a:r>
              <a:rPr lang="en-US" b="1" dirty="0" smtClean="0"/>
              <a:t>Hypothesis 2:</a:t>
            </a:r>
            <a:r>
              <a:rPr lang="en-US" dirty="0" smtClean="0"/>
              <a:t>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a</a:t>
            </a:r>
            <a:r>
              <a:rPr lang="en-US" dirty="0" smtClean="0"/>
              <a:t> ,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b</a:t>
            </a:r>
            <a:r>
              <a:rPr lang="en-US" dirty="0" smtClean="0"/>
              <a:t> the likelihood of null hypothesis (background frequencies; independent)</a:t>
            </a:r>
          </a:p>
          <a:p>
            <a:r>
              <a:rPr lang="en-US" dirty="0" smtClean="0"/>
              <a:t>When score is positive (</a:t>
            </a:r>
            <a:r>
              <a:rPr lang="en-US" dirty="0" err="1" smtClean="0"/>
              <a:t>p</a:t>
            </a:r>
            <a:r>
              <a:rPr lang="en-US" baseline="-25000" dirty="0" err="1" smtClean="0"/>
              <a:t>ab</a:t>
            </a:r>
            <a:r>
              <a:rPr lang="en-US" dirty="0" smtClean="0"/>
              <a:t> &gt;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a</a:t>
            </a:r>
            <a:r>
              <a:rPr lang="en-US" dirty="0" smtClean="0"/>
              <a:t>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b</a:t>
            </a:r>
            <a:r>
              <a:rPr lang="en-US" dirty="0" smtClean="0"/>
              <a:t>) it is an act of evolution else of chance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936" y="2823318"/>
            <a:ext cx="2133600" cy="7493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was the BLOSUM62 alignment score matrix created? 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1346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was the BLOSUM62 alignment score matrix created?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E46C0A"/>
                </a:solidFill>
              </a:rPr>
              <a:t>Calculate score for L/L and W/W identical pairs when </a:t>
            </a:r>
            <a:r>
              <a:rPr lang="en-US" dirty="0" err="1" smtClean="0">
                <a:solidFill>
                  <a:srgbClr val="E46C0A"/>
                </a:solidFill>
              </a:rPr>
              <a:t>p</a:t>
            </a:r>
            <a:r>
              <a:rPr lang="en-US" baseline="-25000" dirty="0" err="1" smtClean="0">
                <a:solidFill>
                  <a:srgbClr val="E46C0A"/>
                </a:solidFill>
              </a:rPr>
              <a:t>LL</a:t>
            </a:r>
            <a:r>
              <a:rPr lang="en-US" dirty="0" smtClean="0">
                <a:solidFill>
                  <a:srgbClr val="E46C0A"/>
                </a:solidFill>
              </a:rPr>
              <a:t>=0.0371, </a:t>
            </a:r>
            <a:r>
              <a:rPr lang="en-US" dirty="0" err="1" smtClean="0">
                <a:solidFill>
                  <a:srgbClr val="E46C0A"/>
                </a:solidFill>
              </a:rPr>
              <a:t>p</a:t>
            </a:r>
            <a:r>
              <a:rPr lang="en-US" baseline="-25000" dirty="0" err="1" smtClean="0">
                <a:solidFill>
                  <a:srgbClr val="E46C0A"/>
                </a:solidFill>
              </a:rPr>
              <a:t>WW</a:t>
            </a:r>
            <a:r>
              <a:rPr lang="en-US" dirty="0" smtClean="0">
                <a:solidFill>
                  <a:srgbClr val="E46C0A"/>
                </a:solidFill>
              </a:rPr>
              <a:t>=0.0065, </a:t>
            </a:r>
            <a:r>
              <a:rPr lang="en-US" dirty="0" err="1" smtClean="0">
                <a:solidFill>
                  <a:srgbClr val="E46C0A"/>
                </a:solidFill>
              </a:rPr>
              <a:t>f</a:t>
            </a:r>
            <a:r>
              <a:rPr lang="en-US" baseline="-25000" dirty="0" err="1" smtClean="0">
                <a:solidFill>
                  <a:srgbClr val="E46C0A"/>
                </a:solidFill>
              </a:rPr>
              <a:t>L</a:t>
            </a:r>
            <a:r>
              <a:rPr lang="en-US" dirty="0" smtClean="0">
                <a:solidFill>
                  <a:srgbClr val="E46C0A"/>
                </a:solidFill>
              </a:rPr>
              <a:t>=0.099, </a:t>
            </a:r>
            <a:r>
              <a:rPr lang="en-US" dirty="0" err="1" smtClean="0">
                <a:solidFill>
                  <a:srgbClr val="E46C0A"/>
                </a:solidFill>
              </a:rPr>
              <a:t>f</a:t>
            </a:r>
            <a:r>
              <a:rPr lang="en-US" baseline="-25000" dirty="0" err="1" smtClean="0">
                <a:solidFill>
                  <a:srgbClr val="E46C0A"/>
                </a:solidFill>
              </a:rPr>
              <a:t>W</a:t>
            </a:r>
            <a:r>
              <a:rPr lang="en-US" dirty="0" smtClean="0">
                <a:solidFill>
                  <a:srgbClr val="E46C0A"/>
                </a:solidFill>
              </a:rPr>
              <a:t>=0.013 and </a:t>
            </a:r>
            <a:r>
              <a:rPr lang="en-US" dirty="0" err="1" smtClean="0">
                <a:solidFill>
                  <a:srgbClr val="E46C0A"/>
                </a:solidFill>
              </a:rPr>
              <a:t>λ</a:t>
            </a:r>
            <a:r>
              <a:rPr lang="en-US" dirty="0" smtClean="0">
                <a:solidFill>
                  <a:srgbClr val="E46C0A"/>
                </a:solidFill>
              </a:rPr>
              <a:t>=0.347.</a:t>
            </a:r>
          </a:p>
          <a:p>
            <a:r>
              <a:rPr lang="en-US" dirty="0" smtClean="0">
                <a:solidFill>
                  <a:srgbClr val="E46C0A"/>
                </a:solidFill>
              </a:rPr>
              <a:t>Why do you think are the L/L and W/W scores different?</a:t>
            </a:r>
            <a:endParaRPr lang="en-US" dirty="0">
              <a:solidFill>
                <a:srgbClr val="E46C0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2232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was the BLOSUM62 alignment score matrix created? 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Calculating </a:t>
            </a:r>
            <a:r>
              <a:rPr lang="en-US" dirty="0" err="1" smtClean="0"/>
              <a:t>p</a:t>
            </a:r>
            <a:r>
              <a:rPr lang="en-US" baseline="-25000" dirty="0" err="1" smtClean="0"/>
              <a:t>ab</a:t>
            </a:r>
            <a:endParaRPr lang="en-US" baseline="-25000" dirty="0" smtClean="0"/>
          </a:p>
          <a:p>
            <a:pPr lvl="1"/>
            <a:r>
              <a:rPr lang="en-US" dirty="0" smtClean="0"/>
              <a:t>Evolutionary distance and </a:t>
            </a:r>
            <a:r>
              <a:rPr lang="en-US" dirty="0" err="1" smtClean="0"/>
              <a:t>p</a:t>
            </a:r>
            <a:r>
              <a:rPr lang="en-US" baseline="-25000" dirty="0" err="1" smtClean="0"/>
              <a:t>ab</a:t>
            </a:r>
            <a:endParaRPr lang="en-US" baseline="-25000" dirty="0" smtClean="0"/>
          </a:p>
          <a:p>
            <a:pPr lvl="1"/>
            <a:r>
              <a:rPr lang="en-US" dirty="0" smtClean="0"/>
              <a:t>Recent divergence -&gt; peak </a:t>
            </a:r>
            <a:r>
              <a:rPr lang="en-US" dirty="0" err="1" smtClean="0"/>
              <a:t>p</a:t>
            </a:r>
            <a:r>
              <a:rPr lang="en-US" baseline="-25000" dirty="0" err="1" smtClean="0"/>
              <a:t>ab</a:t>
            </a:r>
            <a:r>
              <a:rPr lang="en-US" dirty="0" smtClean="0"/>
              <a:t> on identical residues</a:t>
            </a:r>
          </a:p>
          <a:p>
            <a:pPr lvl="1"/>
            <a:r>
              <a:rPr lang="en-US" dirty="0" smtClean="0"/>
              <a:t>More divergence -&gt; flatter </a:t>
            </a:r>
            <a:r>
              <a:rPr lang="en-US" dirty="0" err="1" smtClean="0"/>
              <a:t>p</a:t>
            </a:r>
            <a:r>
              <a:rPr lang="en-US" baseline="-25000" dirty="0" err="1" smtClean="0"/>
              <a:t>ab</a:t>
            </a:r>
            <a:r>
              <a:rPr lang="en-US" dirty="0" smtClean="0"/>
              <a:t> </a:t>
            </a:r>
            <a:r>
              <a:rPr lang="en-US" dirty="0" err="1" smtClean="0"/>
              <a:t>vlaues</a:t>
            </a:r>
            <a:endParaRPr lang="en-US" dirty="0" smtClean="0"/>
          </a:p>
          <a:p>
            <a:r>
              <a:rPr lang="en-US" dirty="0" err="1" smtClean="0"/>
              <a:t>p</a:t>
            </a:r>
            <a:r>
              <a:rPr lang="en-US" baseline="-25000" dirty="0" err="1" smtClean="0"/>
              <a:t>ab</a:t>
            </a:r>
            <a:r>
              <a:rPr lang="en-US" dirty="0" err="1" smtClean="0"/>
              <a:t>’s</a:t>
            </a:r>
            <a:r>
              <a:rPr lang="en-US" dirty="0" smtClean="0"/>
              <a:t> for sequences that are 62% identical gives BLOSUM62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074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BLAST Algorithm - 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375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BLAST 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Bit score</a:t>
            </a:r>
          </a:p>
          <a:p>
            <a:endParaRPr lang="en-US" dirty="0" smtClean="0"/>
          </a:p>
          <a:p>
            <a:r>
              <a:rPr lang="en-US" dirty="0" smtClean="0"/>
              <a:t>E value</a:t>
            </a:r>
          </a:p>
        </p:txBody>
      </p:sp>
    </p:spTree>
    <p:extLst>
      <p:ext uri="{BB962C8B-B14F-4D97-AF65-F5344CB8AC3E}">
        <p14:creationId xmlns:p14="http://schemas.microsoft.com/office/powerpoint/2010/main" val="1385869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554</Words>
  <Application>Microsoft Macintosh PowerPoint</Application>
  <PresentationFormat>On-screen Show (4:3)</PresentationFormat>
  <Paragraphs>91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Sequence Alignment</vt:lpstr>
      <vt:lpstr>Part 1 - MOTIVATION</vt:lpstr>
      <vt:lpstr>Homology</vt:lpstr>
      <vt:lpstr>Phylogenetic Tree</vt:lpstr>
      <vt:lpstr>PowerPoint Presentation</vt:lpstr>
      <vt:lpstr>Finding insulin like molecules</vt:lpstr>
      <vt:lpstr>Origins of insulin</vt:lpstr>
      <vt:lpstr>Phylogeny of insulin superfamily</vt:lpstr>
      <vt:lpstr>Structures of insulin superfamily</vt:lpstr>
      <vt:lpstr>Common ancestor – Insulin and IGF-I</vt:lpstr>
      <vt:lpstr>Insulin – A Conserved Protein</vt:lpstr>
      <vt:lpstr>IGF-I and IGF-II Gene Duplication</vt:lpstr>
      <vt:lpstr>Finding insulin in invertebrates</vt:lpstr>
      <vt:lpstr>Amphioxus ILP</vt:lpstr>
      <vt:lpstr>PowerPoint Presentation</vt:lpstr>
      <vt:lpstr>Phylogeny of Vertebrate Insulin</vt:lpstr>
      <vt:lpstr>Part 2 – BLAST Basic Local Alignment Search Tool</vt:lpstr>
      <vt:lpstr>BLAST @ NCBI</vt:lpstr>
      <vt:lpstr>NCBI BLASTN</vt:lpstr>
      <vt:lpstr>BLAST Report</vt:lpstr>
      <vt:lpstr>Aim of BLAST Search</vt:lpstr>
      <vt:lpstr>Null Hypothesis</vt:lpstr>
      <vt:lpstr>First what is sequence alignment?</vt:lpstr>
      <vt:lpstr>How to score alignment?</vt:lpstr>
      <vt:lpstr>BLASTN and BLASTP Scoring</vt:lpstr>
      <vt:lpstr>PAM - History</vt:lpstr>
      <vt:lpstr>BLOSUM - History</vt:lpstr>
      <vt:lpstr>How was the BLOSUM62 alignment score matrix created? (1)</vt:lpstr>
      <vt:lpstr>How was the BLOSUM62 alignment score matrix created? (2)</vt:lpstr>
      <vt:lpstr>How was the BLOSUM62 alignment score matrix created? (3)</vt:lpstr>
      <vt:lpstr>BLAST Algorithm - Working</vt:lpstr>
      <vt:lpstr>BLAST Terms</vt:lpstr>
    </vt:vector>
  </TitlesOfParts>
  <Company>giribal@gmail.com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 Alignment</dc:title>
  <dc:creator>GIRISH BALAKRISHNAN</dc:creator>
  <cp:lastModifiedBy>GIRISH BALAKRISHNAN</cp:lastModifiedBy>
  <cp:revision>147</cp:revision>
  <dcterms:created xsi:type="dcterms:W3CDTF">2017-02-05T13:56:11Z</dcterms:created>
  <dcterms:modified xsi:type="dcterms:W3CDTF">2017-02-08T05:13:59Z</dcterms:modified>
</cp:coreProperties>
</file>